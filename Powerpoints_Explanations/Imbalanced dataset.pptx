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306" r:id="rId4"/>
    <p:sldId id="276" r:id="rId5"/>
    <p:sldId id="307" r:id="rId6"/>
    <p:sldId id="280" r:id="rId7"/>
    <p:sldId id="312" r:id="rId8"/>
    <p:sldId id="313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AD450-6D91-4ACB-8715-EC454BBC802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41D4D-C352-4CB7-A625-8516041D9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67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6951B-ED3E-41F7-9EF2-D0DB3531A5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34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90C4-1ACD-28C1-0F51-1B1E5FD8C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0BAEF-2CE8-CF16-6CA3-EC35B70C5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FF3FD-9802-07D6-4CA5-8032885D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492C3-3ADE-11C7-9E24-E7309FB1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B07BF-0B16-5BD5-9D8C-C6D8A6E0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75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5266-E097-921F-DDED-64356FFA7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A2F00-5E6D-6590-9006-D9ADDE541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C070D-D79A-60B5-F751-2C7075EB5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C67EA-68D3-46A5-6B0F-5713F3DF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CEF2D-CE5A-8F86-C0AA-0228947A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8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6F25-D1E6-CCD3-CE8A-3D179878C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D242F-D992-A19F-1FA6-CC3CC0006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81318-7607-9BF5-AFF6-4529CF6B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D3287-4E3C-21CB-6D4B-6A8F62E02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9E7D4-55AA-59C0-A746-94C38C5F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38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7836-8A5C-ECFB-92A0-9FAAF8BC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FEEBA-B188-319D-EEB4-50C512E77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3339A-E90D-8E94-1006-F66A0EDDB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B6A88-21FC-F1B3-B0BC-3F2C1A816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F4BA8-1555-FD47-2A1D-5B2BCF3D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8530F-DDE2-7C37-A262-DA285CC0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7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F558-0DE7-6474-EEE8-3C2AD679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CBBD7-0040-C602-E3ED-AE475509D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7C35A-E5AB-C0FE-FBE5-AA475DD5B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5284B-25DF-34DE-8D5E-00E579B79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89119-97EA-570E-B556-6EF87791E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3BB1A3-6DD9-DC97-AF8B-8A231A0E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560BC1-4D5C-3B9B-C423-46A0B6720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FA9304-8693-937C-92A7-FE5C6AD4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8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C6D2-0486-5D8F-FB20-F28BC385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D94EC-C6BB-9029-70A1-7CDF1C2D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D10BC-3B66-F354-622A-8B0B47E5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0752B-E93D-FB52-2717-6C8D98D7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7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441BC7-2729-71CE-2C1D-D271D6D7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E1E97-AD3C-7E40-75F5-847034273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665E4-6855-961D-D6BE-2F95EF39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0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35CC-0C29-35D3-472F-C0294972D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AB71-35C0-0899-5EDF-9D378BC57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039B1-585B-AD9A-B7C1-1D8998716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1B66E-2CD3-1332-63AD-FF153209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0AD35-4EE6-B18F-D3CC-EC559179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4A27D-AED8-075B-44EC-6BFB8757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91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9DB98-7054-4AE4-7E2B-70C624666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641BD-5180-2307-8431-994DDD861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FA4A4-3E95-DA72-3102-56D1048EE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14139-F77E-0657-76E2-88FDFF08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6FEE1-5BAE-86D4-30CA-0C926C02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1F758-8DD9-0A59-9E1C-D5C01496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1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9670-6DFA-9DD7-1456-915ED572F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F5D1E-09A8-BA23-4B7F-CE7018487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D934B-46D4-B6B0-FBF8-4FC510F7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B6FCA-64F3-EE08-B32D-F2FB5F08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5D3B7-9B1F-233F-58B6-9F5B379D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5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41B347-72D1-C5C9-837F-CFE8BAF3F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21DDF-1E46-A924-4057-B6977B732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1686E-FCBF-2BDB-8F95-0DA19329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C00BA-AC49-F694-02BA-32D636F6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C1D39-DEA8-B800-8B09-B04AE6E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1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48DE90-599F-7F9C-A18A-C82C2A8C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C8AC2-835D-F159-4FE2-84AC191B6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0636D-F97F-1202-BDB2-609552187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91622-EE6B-43AA-8CB9-8C4FB5E14C22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7CCD3-34E7-EE63-E2E7-714FD84EA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18E52-0248-F8A1-FA9D-F849FA1F7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12BC0-CB2D-4A4B-BBFB-9549F56ED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4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6569-32F7-DBB2-F72B-28786CD4ACBB}"/>
              </a:ext>
            </a:extLst>
          </p:cNvPr>
          <p:cNvSpPr txBox="1">
            <a:spLocks/>
          </p:cNvSpPr>
          <p:nvPr/>
        </p:nvSpPr>
        <p:spPr>
          <a:xfrm>
            <a:off x="3013134" y="818146"/>
            <a:ext cx="5795890" cy="222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Imbalanced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ML methods on 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E588F-5C2E-8B3D-CF8E-A3D6167C487C}"/>
              </a:ext>
            </a:extLst>
          </p:cNvPr>
          <p:cNvSpPr txBox="1">
            <a:spLocks/>
          </p:cNvSpPr>
          <p:nvPr/>
        </p:nvSpPr>
        <p:spPr>
          <a:xfrm>
            <a:off x="3143815" y="3875986"/>
            <a:ext cx="5221706" cy="1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Behnoud Shafizadeh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May 2022</a:t>
            </a:r>
          </a:p>
        </p:txBody>
      </p:sp>
    </p:spTree>
    <p:extLst>
      <p:ext uri="{BB962C8B-B14F-4D97-AF65-F5344CB8AC3E}">
        <p14:creationId xmlns:p14="http://schemas.microsoft.com/office/powerpoint/2010/main" val="2603810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05A728-E0EA-3BA7-C8AA-C1CA47EE1990}"/>
              </a:ext>
            </a:extLst>
          </p:cNvPr>
          <p:cNvSpPr txBox="1"/>
          <p:nvPr/>
        </p:nvSpPr>
        <p:spPr>
          <a:xfrm>
            <a:off x="3951019" y="-64813"/>
            <a:ext cx="418003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29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What is Imbalanced Data?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DD9CB-38E9-E474-33F6-D3545BF67CBB}"/>
              </a:ext>
            </a:extLst>
          </p:cNvPr>
          <p:cNvSpPr txBox="1"/>
          <p:nvPr/>
        </p:nvSpPr>
        <p:spPr>
          <a:xfrm>
            <a:off x="-1" y="369332"/>
            <a:ext cx="11902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 typically refers to a problem with classification problems where 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 (labels) are not represented equally.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Also, the classification will no be able to learn the decision boundary between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minority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(negative or class 0) 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calls (positive or class 1). This is shown in some interesting fields such as :</a:t>
            </a:r>
          </a:p>
          <a:p>
            <a:pPr algn="just" fontAlgn="base"/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Detection, Spam Detection, Anomaly Detection, Outlier Detection, …</a:t>
            </a:r>
          </a:p>
          <a:p>
            <a:pPr algn="just" fontAlgn="base"/>
            <a:endParaRPr lang="en-US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B97D4E-19C7-7954-BFE9-18DDF2DDFF96}"/>
              </a:ext>
            </a:extLst>
          </p:cNvPr>
          <p:cNvSpPr txBox="1"/>
          <p:nvPr/>
        </p:nvSpPr>
        <p:spPr>
          <a:xfrm>
            <a:off x="0" y="5380672"/>
            <a:ext cx="113925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appropriate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Also, it reflects the underlying class distribution. (solving by ROC and…)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Assigning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 cost functions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training examples. (weighting cost function based on proportions of majority and minority classes or using cost sensitives algorithms such as logistic regression,…)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minority and majority classes. (proposing different models of majority undersampling and minority upsampling,…)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EA9863-20EE-EE50-85FB-801E0C08A14B}"/>
              </a:ext>
            </a:extLst>
          </p:cNvPr>
          <p:cNvSpPr txBox="1"/>
          <p:nvPr/>
        </p:nvSpPr>
        <p:spPr>
          <a:xfrm>
            <a:off x="-89263" y="5025028"/>
            <a:ext cx="544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challenges made by imbalance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9680B-C28B-EA3A-346F-D9ADB92EC23C}"/>
              </a:ext>
            </a:extLst>
          </p:cNvPr>
          <p:cNvSpPr txBox="1"/>
          <p:nvPr/>
        </p:nvSpPr>
        <p:spPr>
          <a:xfrm>
            <a:off x="-1" y="1510185"/>
            <a:ext cx="120820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of class imbalance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Biased Sampling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were collected from a narrow geographical region, or slice of time, and the distribution of classes may be quite different or perhaps even collected in a different way.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Measurement Errors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 class labels to many examples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were collected may have been damaged or impaired</a:t>
            </a:r>
          </a:p>
          <a:p>
            <a:pPr algn="just"/>
            <a:endParaRPr lang="en-US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E00DA-DFA4-8662-B9DA-9E4B39369F63}"/>
              </a:ext>
            </a:extLst>
          </p:cNvPr>
          <p:cNvSpPr txBox="1"/>
          <p:nvPr/>
        </p:nvSpPr>
        <p:spPr>
          <a:xfrm>
            <a:off x="430398" y="3850662"/>
            <a:ext cx="11651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Slight Imbalance:</a:t>
            </a:r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imbalanced classification problem where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examples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uneven by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amount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training dataset (e.g.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4:6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Severe Imbalance:</a:t>
            </a:r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imbalanced classification problem where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examples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uneven by a large amount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training dataset (e.g.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1:100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more).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A6472B-EBB5-C47F-33CD-72A23099AAE1}"/>
              </a:ext>
            </a:extLst>
          </p:cNvPr>
          <p:cNvSpPr txBox="1"/>
          <p:nvPr/>
        </p:nvSpPr>
        <p:spPr>
          <a:xfrm>
            <a:off x="-1" y="3514843"/>
            <a:ext cx="544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imbalance dataset</a:t>
            </a:r>
            <a:endParaRPr lang="en-US" b="1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5800B9FD-198B-6506-1E7A-358642C2C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34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6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1BB99-9297-290E-BBCD-070419AAA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418" y="37087"/>
            <a:ext cx="3151163" cy="844697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ROC with precision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E6A15-BBC4-0C44-FD78-2794F5B5B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055" y="1184165"/>
            <a:ext cx="4727752" cy="24312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F52741-0D0B-C7C6-EA6B-66945FC52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93" y="1070038"/>
            <a:ext cx="6317351" cy="35169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4CED53-BEDB-C2FC-F69A-9D36DC4CB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955" y="3917778"/>
            <a:ext cx="3332417" cy="1023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EE9CF4-DAF3-C064-8FB0-1BD1D2C54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480" y="4817013"/>
            <a:ext cx="3819525" cy="1219200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40A2D1FD-DCAE-FAEF-2921-AAAA48F0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80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692F1-1836-03CD-A453-4821C3F3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457" y="118782"/>
            <a:ext cx="11603081" cy="922227"/>
          </a:xfrm>
        </p:spPr>
        <p:txBody>
          <a:bodyPr>
            <a:noAutofit/>
          </a:bodyPr>
          <a:lstStyle/>
          <a:p>
            <a:pPr algn="ctr"/>
            <a:r>
              <a:rPr lang="en-US" sz="29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Imbalanced Classification Model to Detect Mammography Microcalcifications</a:t>
            </a:r>
            <a:br>
              <a:rPr lang="en-US" sz="29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900" dirty="0">
              <a:solidFill>
                <a:schemeClr val="accent1">
                  <a:lumMod val="75000"/>
                </a:schemeClr>
              </a:solidFill>
              <a:effectLst>
                <a:glow rad="495300">
                  <a:schemeClr val="accent1"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  <a:reflection endPos="0" dist="508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E8E32D-ED76-32E5-627A-98CD441BB1B3}"/>
              </a:ext>
            </a:extLst>
          </p:cNvPr>
          <p:cNvSpPr txBox="1">
            <a:spLocks/>
          </p:cNvSpPr>
          <p:nvPr/>
        </p:nvSpPr>
        <p:spPr>
          <a:xfrm>
            <a:off x="47400" y="1971374"/>
            <a:ext cx="11603081" cy="2875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Mammography dataset</a:t>
            </a:r>
          </a:p>
          <a:p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breast cancer from radiological scans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98%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microcalcifications are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cancer 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2%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labeled as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cancer</a:t>
            </a:r>
          </a:p>
          <a:p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feature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br>
              <a:rPr lang="en-US" sz="1000" dirty="0"/>
            </a:br>
            <a:r>
              <a:rPr lang="en-US" sz="1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fontAlgn="base"/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Non-microcalcifications: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negative case, or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classes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Microcalcifications: 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case, or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minority class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:</a:t>
            </a:r>
          </a:p>
          <a:p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problem is on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breast cancer from radiological scans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specifically the presence of clusters of microcalcifications that appear bright on a mammogram.</a:t>
            </a:r>
          </a:p>
          <a:p>
            <a:endParaRPr lang="en-US" sz="28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3622E4-9AE0-66F0-18E7-ED310CB58AD9}"/>
              </a:ext>
            </a:extLst>
          </p:cNvPr>
          <p:cNvSpPr txBox="1">
            <a:spLocks/>
          </p:cNvSpPr>
          <p:nvPr/>
        </p:nvSpPr>
        <p:spPr>
          <a:xfrm>
            <a:off x="47400" y="5776820"/>
            <a:ext cx="11603081" cy="7234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Intentions of ROC and AUC :</a:t>
            </a:r>
          </a:p>
          <a:p>
            <a:pPr fontAlgn="base"/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false positive rate</a:t>
            </a:r>
          </a:p>
          <a:p>
            <a:pPr fontAlgn="base"/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Maximize true positive rate</a:t>
            </a:r>
          </a:p>
          <a:p>
            <a:pPr fontAlgn="base"/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threshold 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as a cut-off between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FPR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TPR</a:t>
            </a:r>
          </a:p>
          <a:p>
            <a:endParaRPr lang="en-US" sz="28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64F1934-344F-F8CA-0D52-C22F23A0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4B102-1B0A-4830-6D65-EAD3DF84AEFB}"/>
              </a:ext>
            </a:extLst>
          </p:cNvPr>
          <p:cNvSpPr txBox="1"/>
          <p:nvPr/>
        </p:nvSpPr>
        <p:spPr>
          <a:xfrm>
            <a:off x="541519" y="2078505"/>
            <a:ext cx="11356896" cy="158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Area of object (in pixels).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Average gray level of the object.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Gradient strength of the object’s perimeter pixels.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Gradient strength of the object’s perimeter pixels.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Contrast, average gray level of the object minus the average of a two-pixel wide border surrounding the object.</a:t>
            </a:r>
          </a:p>
          <a:p>
            <a:pPr marL="285750" indent="-285750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low order moment based on shape descriptor.</a:t>
            </a:r>
          </a:p>
        </p:txBody>
      </p:sp>
    </p:spTree>
    <p:extLst>
      <p:ext uri="{BB962C8B-B14F-4D97-AF65-F5344CB8AC3E}">
        <p14:creationId xmlns:p14="http://schemas.microsoft.com/office/powerpoint/2010/main" val="92659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2771C-D0C1-C979-5145-14C9B0614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38" y="410664"/>
            <a:ext cx="11902191" cy="625642"/>
          </a:xfrm>
        </p:spPr>
        <p:txBody>
          <a:bodyPr>
            <a:noAutofit/>
          </a:bodyPr>
          <a:lstStyle/>
          <a:p>
            <a:pPr algn="ctr"/>
            <a:r>
              <a:rPr lang="en-US" sz="29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Imbalanced Classification Model to Detect Mammography Microcalcifications</a:t>
            </a:r>
            <a:br>
              <a:rPr lang="en-US" sz="29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9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(evaluating different models)</a:t>
            </a:r>
            <a:br>
              <a:rPr lang="en-US" sz="24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97762-BBAF-29D5-C1DE-B14EF4E11869}"/>
              </a:ext>
            </a:extLst>
          </p:cNvPr>
          <p:cNvSpPr txBox="1"/>
          <p:nvPr/>
        </p:nvSpPr>
        <p:spPr>
          <a:xfrm>
            <a:off x="164892" y="843317"/>
            <a:ext cx="60710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models: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(LR)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Bagged Decision Trees (BAG)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(RF)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Machine (GBM)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97E5D-BB0D-C935-E599-DEC220F69393}"/>
              </a:ext>
            </a:extLst>
          </p:cNvPr>
          <p:cNvSpPr txBox="1"/>
          <p:nvPr/>
        </p:nvSpPr>
        <p:spPr>
          <a:xfrm>
            <a:off x="164892" y="3525217"/>
            <a:ext cx="3867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sensitive models:</a:t>
            </a:r>
          </a:p>
          <a:p>
            <a:pPr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(LR)</a:t>
            </a:r>
          </a:p>
          <a:p>
            <a:pPr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pPr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(RF)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91987-6F42-8AF3-0889-8D1F350AA2A1}"/>
              </a:ext>
            </a:extLst>
          </p:cNvPr>
          <p:cNvSpPr txBox="1"/>
          <p:nvPr/>
        </p:nvSpPr>
        <p:spPr>
          <a:xfrm>
            <a:off x="164892" y="2874642"/>
            <a:ext cx="11032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improve them with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cost-sensitive classifiers</a:t>
            </a:r>
            <a:r>
              <a:rPr lang="en-US" b="0" i="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machine learning algorithms can be adapted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pay more attention to one class than another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fitting the model.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are referred to as cost-sensitive :</a:t>
            </a:r>
            <a:r>
              <a:rPr lang="en-US" b="0" i="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D2146-C57C-3CAC-9049-2C2D75C0C6C2}"/>
              </a:ext>
            </a:extLst>
          </p:cNvPr>
          <p:cNvSpPr txBox="1"/>
          <p:nvPr/>
        </p:nvSpPr>
        <p:spPr>
          <a:xfrm>
            <a:off x="164892" y="5060051"/>
            <a:ext cx="11032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we can see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sensitive algorithms have a better performance base on ROC AUC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to linear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Furthermore, amongst them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classifier has a better result than others by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SVM  mean scores (0.957) std scores (0.024)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BF7DEA4-E540-FAAD-34FB-999F86EC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5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14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C55E-7658-63D5-CC6B-D7766865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189" y="121534"/>
            <a:ext cx="11577711" cy="569626"/>
          </a:xfrm>
        </p:spPr>
        <p:txBody>
          <a:bodyPr>
            <a:noAutofit/>
          </a:bodyPr>
          <a:lstStyle/>
          <a:p>
            <a:pPr algn="ctr"/>
            <a:r>
              <a:rPr lang="en-US" sz="29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Gentle Introduction to Threshold-Moving for Imbalanced Classification</a:t>
            </a:r>
            <a:br>
              <a:rPr lang="en-US" sz="24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789503-CB35-3B9B-45AA-6E83C62F9ED7}"/>
              </a:ext>
            </a:extLst>
          </p:cNvPr>
          <p:cNvSpPr txBox="1"/>
          <p:nvPr/>
        </p:nvSpPr>
        <p:spPr>
          <a:xfrm>
            <a:off x="-1" y="1086547"/>
            <a:ext cx="12052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those classification problems that have a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severe class imbalance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default threshold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result in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performance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Specially, it affects (changes) the trade of between false positive and false negative rates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6721E-E749-919D-B168-8FD3A10F04FE}"/>
              </a:ext>
            </a:extLst>
          </p:cNvPr>
          <p:cNvSpPr txBox="1"/>
          <p:nvPr/>
        </p:nvSpPr>
        <p:spPr>
          <a:xfrm>
            <a:off x="0" y="1980774"/>
            <a:ext cx="61384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value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threshold is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means that: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&lt; 0.5 = Class 0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&gt;= 0.5 = Class 1  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this is not optimal threshold value.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4E93E7-43BB-933A-E2DB-F810089521AA}"/>
              </a:ext>
            </a:extLst>
          </p:cNvPr>
          <p:cNvSpPr txBox="1"/>
          <p:nvPr/>
        </p:nvSpPr>
        <p:spPr>
          <a:xfrm>
            <a:off x="-1" y="3428999"/>
            <a:ext cx="118122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We have two solutions for solving this issue : Precision-Recall curve , ROC curve (discussed before)</a:t>
            </a:r>
            <a:r>
              <a:rPr lang="en-US" dirty="0"/>
              <a:t> .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fact, Tuning or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shifting the decision threshold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order to accommodate the broader requirements of the classification problem is generally referred to as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“threshold-moving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C9B8F6EC-CB2F-6047-3D2E-678D90B8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6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19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9D6548-D242-A698-967C-2C8329D39A16}"/>
              </a:ext>
            </a:extLst>
          </p:cNvPr>
          <p:cNvSpPr txBox="1"/>
          <p:nvPr/>
        </p:nvSpPr>
        <p:spPr>
          <a:xfrm>
            <a:off x="0" y="3867462"/>
            <a:ext cx="11812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Unlike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ROC, Precision-Recall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curve only focuses on the positive (minority class). Using F-measure to finding trade off between Precision and Recall. In fact,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score and threshold with the largest value</a:t>
            </a:r>
            <a:r>
              <a:rPr lang="en-US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be selected as a optimal point.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B3C05-5821-0C87-2614-E7207D6459ED}"/>
              </a:ext>
            </a:extLst>
          </p:cNvPr>
          <p:cNvSpPr txBox="1"/>
          <p:nvPr/>
        </p:nvSpPr>
        <p:spPr>
          <a:xfrm>
            <a:off x="961868" y="5057446"/>
            <a:ext cx="6138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F-Measure = (2 * Precision * Recall) / (Precision + Recall)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3B82AD-1394-D7EB-0B32-A91E2C96D00C}"/>
              </a:ext>
            </a:extLst>
          </p:cNvPr>
          <p:cNvSpPr txBox="1"/>
          <p:nvPr/>
        </p:nvSpPr>
        <p:spPr>
          <a:xfrm>
            <a:off x="1203195" y="5785765"/>
            <a:ext cx="6138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Threshold=0.256036, F-Score=0.756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EB9C4C-351B-2996-1F93-3D11749EB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667" y="4663335"/>
            <a:ext cx="3173933" cy="219466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3A0B8D-0A3E-C7B6-0C02-14D1680250E4}"/>
              </a:ext>
            </a:extLst>
          </p:cNvPr>
          <p:cNvCxnSpPr>
            <a:cxnSpLocks/>
          </p:cNvCxnSpPr>
          <p:nvPr/>
        </p:nvCxnSpPr>
        <p:spPr>
          <a:xfrm flipV="1">
            <a:off x="6213551" y="5082862"/>
            <a:ext cx="3260233" cy="9296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4D309357-66D7-FD4A-0392-EDA0EFEB2C14}"/>
              </a:ext>
            </a:extLst>
          </p:cNvPr>
          <p:cNvSpPr txBox="1">
            <a:spLocks/>
          </p:cNvSpPr>
          <p:nvPr/>
        </p:nvSpPr>
        <p:spPr>
          <a:xfrm>
            <a:off x="2182925" y="-39560"/>
            <a:ext cx="9467556" cy="5696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Optimal threshold on ROC&amp;Precision-Recall curves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C2156B-EAB1-0572-09D8-3F1DCEEC5E2A}"/>
              </a:ext>
            </a:extLst>
          </p:cNvPr>
          <p:cNvSpPr txBox="1"/>
          <p:nvPr/>
        </p:nvSpPr>
        <p:spPr>
          <a:xfrm>
            <a:off x="-41706" y="414089"/>
            <a:ext cx="11812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optimal threshold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on the curve is closest to the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top-left of the plot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Indeed,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calculate the G-Mean for each threshold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 to find optimal point: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F4E9F9-F884-967A-54A6-C1AFA9B73A01}"/>
              </a:ext>
            </a:extLst>
          </p:cNvPr>
          <p:cNvSpPr txBox="1"/>
          <p:nvPr/>
        </p:nvSpPr>
        <p:spPr>
          <a:xfrm>
            <a:off x="275562" y="1226475"/>
            <a:ext cx="6138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G-Mean = sqrt(Sensitivity * Specificity)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FF2716-6969-98E9-A82E-3A0FF7DC098E}"/>
              </a:ext>
            </a:extLst>
          </p:cNvPr>
          <p:cNvSpPr txBox="1"/>
          <p:nvPr/>
        </p:nvSpPr>
        <p:spPr>
          <a:xfrm>
            <a:off x="377254" y="2194514"/>
            <a:ext cx="6138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Threshold=0.016153, G-Mean=0.933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5F8553E-E999-8684-9DA1-E4F2E58FF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667" y="801892"/>
            <a:ext cx="3173933" cy="266886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0B6658-1590-D891-3EE9-17CF947D42E0}"/>
              </a:ext>
            </a:extLst>
          </p:cNvPr>
          <p:cNvCxnSpPr>
            <a:cxnSpLocks/>
          </p:cNvCxnSpPr>
          <p:nvPr/>
        </p:nvCxnSpPr>
        <p:spPr>
          <a:xfrm flipV="1">
            <a:off x="5486400" y="1141853"/>
            <a:ext cx="2427031" cy="1237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070F169F-F82D-FA4C-1945-E9F58E6E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7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32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53243-3868-43A3-7AC3-2333D2F15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387" y="2382868"/>
            <a:ext cx="1351084" cy="16415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39BB6B-E1D5-74A4-967B-6047A5AD6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82" y="2591216"/>
            <a:ext cx="1481182" cy="1433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3AA88D-42FD-356B-5060-DC6B323296D3}"/>
              </a:ext>
            </a:extLst>
          </p:cNvPr>
          <p:cNvSpPr txBox="1"/>
          <p:nvPr/>
        </p:nvSpPr>
        <p:spPr>
          <a:xfrm>
            <a:off x="5912344" y="29631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https://machinelearningmastery.com/category/imbalanced-classification/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E4CA018-B16C-E9A8-98FB-B9807D5ED423}"/>
              </a:ext>
            </a:extLst>
          </p:cNvPr>
          <p:cNvSpPr/>
          <p:nvPr/>
        </p:nvSpPr>
        <p:spPr>
          <a:xfrm rot="10800000">
            <a:off x="5068030" y="3094277"/>
            <a:ext cx="571332" cy="404053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9A4AF-DCC4-53C5-45FF-72B95AE447A1}"/>
              </a:ext>
            </a:extLst>
          </p:cNvPr>
          <p:cNvSpPr txBox="1"/>
          <p:nvPr/>
        </p:nvSpPr>
        <p:spPr>
          <a:xfrm>
            <a:off x="903375" y="2221884"/>
            <a:ext cx="1895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Jason Brownlee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44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F6FA-C48D-83C2-DA55-A07F878FACE3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  <a:solidFill>
            <a:schemeClr val="bg1"/>
          </a:solidFill>
          <a:effectLst>
            <a:glow>
              <a:schemeClr val="accent1"/>
            </a:glow>
            <a:softEdge rad="317500"/>
          </a:effectLst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consideration. </a:t>
            </a:r>
          </a:p>
        </p:txBody>
      </p:sp>
    </p:spTree>
    <p:extLst>
      <p:ext uri="{BB962C8B-B14F-4D97-AF65-F5344CB8AC3E}">
        <p14:creationId xmlns:p14="http://schemas.microsoft.com/office/powerpoint/2010/main" val="2592324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887</Words>
  <Application>Microsoft Office PowerPoint</Application>
  <PresentationFormat>Widescreen</PresentationFormat>
  <Paragraphs>84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ROC with precision</vt:lpstr>
      <vt:lpstr>Imbalanced Classification Model to Detect Mammography Microcalcifications </vt:lpstr>
      <vt:lpstr>Imbalanced Classification Model to Detect Mammography Microcalcifications (evaluating different models) </vt:lpstr>
      <vt:lpstr>A Gentle Introduction to Threshold-Moving for Imbalanced Classification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behnoud shafizadeh</dc:creator>
  <cp:lastModifiedBy>behnoud shafizadeh</cp:lastModifiedBy>
  <cp:revision>6</cp:revision>
  <dcterms:created xsi:type="dcterms:W3CDTF">2022-06-10T05:46:33Z</dcterms:created>
  <dcterms:modified xsi:type="dcterms:W3CDTF">2022-06-10T06:36:14Z</dcterms:modified>
</cp:coreProperties>
</file>