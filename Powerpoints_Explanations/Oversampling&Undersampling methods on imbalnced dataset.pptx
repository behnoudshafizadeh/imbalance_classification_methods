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3" r:id="rId3"/>
    <p:sldId id="284" r:id="rId4"/>
    <p:sldId id="310" r:id="rId5"/>
    <p:sldId id="308" r:id="rId6"/>
    <p:sldId id="311" r:id="rId7"/>
    <p:sldId id="309" r:id="rId8"/>
    <p:sldId id="297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CC1C6-7767-47F9-8888-879893B40960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603D8-A071-4706-A933-AFA7EFB2A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11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6951B-ED3E-41F7-9EF2-D0DB3531A5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10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8AD3-329A-087B-930D-4AA665442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88213-A0C0-B9C0-D12F-467994C4A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31E21-165D-420B-BFA5-0D832098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EFFFE-EBBE-4EAD-80FB-57DBEE07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C98C6-2CC9-8015-BFC8-8F9D41E3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1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AF02-5BF5-233C-B78F-B1CEAEAB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A75A9-F17C-98FF-9CDD-00ADE07D3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DB6C0-7FCC-4804-B674-54336F9C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7DB85-20EE-ACE2-3494-AD937AE34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68FF-CD32-A441-C79E-BD218A42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4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6F77B-EF5A-03B1-B41D-38910D33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0E604-17A8-426E-0318-1139CC31F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B7898-940D-4172-9CDE-46F33605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2E256-8534-48CE-00D1-BE2FBB57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1CECF-6A18-A5C6-483F-D34B26C0A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228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253A-E22D-F32A-E2E1-5AFC97AA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D7D48-46A4-11CF-0E52-7CA70AD40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F7155-0988-2EEC-BCB7-772E2F6CC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78C06-38D8-E01A-1144-437FF2354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F4F9C-2358-903E-04DA-09C62B950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1ED41-0873-D353-8191-BCDBE6DE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2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AB416-8454-2B84-7A46-B02E1BBCD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26325-4588-EE6D-692E-8B35B3069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40E72-0CBD-1461-463C-64D27916F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A6F4B-4CD2-4BF5-BB31-4C6131110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88995-9726-1764-09BD-CE529F2FE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38C3E-7ABD-7C70-88BE-0F326E827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B9055-D9F4-5D34-026C-C64904CB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9E50E9-C1F0-13C7-8C37-757C2722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8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D0B5-3B02-82B3-1B02-3451DD48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4E725-230F-B492-EC97-DE24F48A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9FF5C-49BF-7A31-2B92-9ACF8C87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7BF8D-734D-14EF-BF69-F9A5601C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8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1E1EA3-76F0-0E13-B3DE-47CA34116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94C1D-E242-B7FC-8C12-B56433B9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D9E4B-2B62-24CB-5B07-758D656A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07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1AE55-B97F-2E9B-EC9D-02076BAC5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4A5E6-D86F-A94B-A316-95BDCF593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77845-2DD2-97FE-6D63-8687D357C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5FA1F-BF1F-F5A0-6B8B-3D53F22B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EB863-91B5-381E-9AC9-C0A07222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DC5C3-81D1-FB72-119D-B3C7631F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15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06A6-7AFE-BD3D-F820-CB0B034F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EFCF0-5643-4C31-A051-778A7D3C2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463F5-1B64-1997-EE7F-9F4B9EF11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F67C9-02E3-0888-143A-18EBE5CF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164CE-6B13-3F14-A8FD-0A00F024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5859B-1BD2-7626-6688-50D5F596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6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11F9-2794-C280-FF56-057C5187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F040A-71CD-C084-6622-BBB6A39AA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8A45E-2D59-B4D6-ED78-967C8B91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CDDD4-3FFA-1208-E6B7-C84C25C40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E2668-BF11-69B8-977A-616D6470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DC351-B810-2A95-C5BD-76600144B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9BB4E-6C34-F952-B9D3-658BACF70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6EAC1-8104-DAA4-2918-5AFF4429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61DFB-17AB-3821-608C-94D89460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D0169-BEA7-A37F-CC67-38745462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4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EF168-AA8F-CD67-BAD9-29B60154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A2EEA-BDCF-682F-F968-067EAA4CA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65F2E-7E86-A3F5-4B6D-0ABAFCDF9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BF06D-2436-4334-BB0A-95B12DB610B2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E9CBB-CD3F-F02E-D8BB-223BA5F1B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FAC00-F19D-93EE-E350-19671D2C9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2EA49-56BA-44EB-B171-668263481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7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106.1813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A3DD3C5-3095-B065-D631-AD4DC88955F5}"/>
              </a:ext>
            </a:extLst>
          </p:cNvPr>
          <p:cNvSpPr txBox="1">
            <a:spLocks/>
          </p:cNvSpPr>
          <p:nvPr/>
        </p:nvSpPr>
        <p:spPr>
          <a:xfrm>
            <a:off x="1146661" y="1204600"/>
            <a:ext cx="9312265" cy="222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sampling and Over sampling (SMOTE) methods on Imbalance Ovarian cancer dataset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BF23BB9-ECE4-4546-AA65-B53F82411FD8}"/>
              </a:ext>
            </a:extLst>
          </p:cNvPr>
          <p:cNvSpPr txBox="1">
            <a:spLocks/>
          </p:cNvSpPr>
          <p:nvPr/>
        </p:nvSpPr>
        <p:spPr>
          <a:xfrm>
            <a:off x="3396478" y="4248965"/>
            <a:ext cx="5221706" cy="1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Behnoud Shafizadeh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June 2022</a:t>
            </a:r>
          </a:p>
        </p:txBody>
      </p:sp>
    </p:spTree>
    <p:extLst>
      <p:ext uri="{BB962C8B-B14F-4D97-AF65-F5344CB8AC3E}">
        <p14:creationId xmlns:p14="http://schemas.microsoft.com/office/powerpoint/2010/main" val="384605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E8AF9-C1B1-700C-96D3-5544336EF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422" y="65193"/>
            <a:ext cx="7991007" cy="246197"/>
          </a:xfrm>
        </p:spPr>
        <p:txBody>
          <a:bodyPr>
            <a:normAutofit fontScale="90000"/>
          </a:bodyPr>
          <a:lstStyle/>
          <a:p>
            <a:r>
              <a:rPr lang="en-US" sz="29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Undersampling Algorithms for Imbalanced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DC03A-F254-511D-EF00-0B17A87F6E47}"/>
              </a:ext>
            </a:extLst>
          </p:cNvPr>
          <p:cNvSpPr txBox="1"/>
          <p:nvPr/>
        </p:nvSpPr>
        <p:spPr>
          <a:xfrm>
            <a:off x="-85927" y="282828"/>
            <a:ext cx="11917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suite of techniques has been developed for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undersampling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majority class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can be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conjunction with effective oversampling methods.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simply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undersampling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randomly delete majority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samples does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consider the information.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may destroy helpful information extracted by majority samples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blindly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Thus, exploring other methods will be useful.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E66FF9-B19C-3CEB-4300-AE4871FB4780}"/>
              </a:ext>
            </a:extLst>
          </p:cNvPr>
          <p:cNvSpPr txBox="1">
            <a:spLocks/>
          </p:cNvSpPr>
          <p:nvPr/>
        </p:nvSpPr>
        <p:spPr>
          <a:xfrm>
            <a:off x="-85927" y="1281196"/>
            <a:ext cx="7991007" cy="506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Different methods of Undersampling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AC093-5BA1-5CFF-A904-FD01A87D21FC}"/>
              </a:ext>
            </a:extLst>
          </p:cNvPr>
          <p:cNvSpPr txBox="1"/>
          <p:nvPr/>
        </p:nvSpPr>
        <p:spPr>
          <a:xfrm>
            <a:off x="358173" y="1594161"/>
            <a:ext cx="123655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NearMiss-1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keeping Majority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examples 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minimum average distance to three closest minority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examples.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NearMiss-2: keeping Majority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examples 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minimum average distance to three furthest minority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examples.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NearMiss-3: keeping Majority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examples 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minimum distance to each minority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example.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CAE359-8038-56B5-9A8F-4FD843703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64" y="3574511"/>
            <a:ext cx="1922461" cy="15249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127066-2C51-527F-35F0-E212FC05B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617" y="2323052"/>
            <a:ext cx="2145470" cy="14158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B0B0F8-2BC4-8F69-F684-B8D63CFB3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619" y="3853222"/>
            <a:ext cx="2145470" cy="14158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9DBBBA-C14D-6A85-2300-E0425E131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7617" y="5383393"/>
            <a:ext cx="2145470" cy="141586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B5AC18-6CA0-965B-11D2-4DBEA9E60356}"/>
              </a:ext>
            </a:extLst>
          </p:cNvPr>
          <p:cNvCxnSpPr>
            <a:cxnSpLocks/>
          </p:cNvCxnSpPr>
          <p:nvPr/>
        </p:nvCxnSpPr>
        <p:spPr>
          <a:xfrm flipV="1">
            <a:off x="2093893" y="2812302"/>
            <a:ext cx="880857" cy="9943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CD3227-B580-10B2-E8B9-9B76061FC5C1}"/>
              </a:ext>
            </a:extLst>
          </p:cNvPr>
          <p:cNvCxnSpPr>
            <a:cxnSpLocks/>
          </p:cNvCxnSpPr>
          <p:nvPr/>
        </p:nvCxnSpPr>
        <p:spPr>
          <a:xfrm>
            <a:off x="2093892" y="4561155"/>
            <a:ext cx="88085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9C839F-BA22-13A2-D5BB-9900026D3F08}"/>
              </a:ext>
            </a:extLst>
          </p:cNvPr>
          <p:cNvCxnSpPr>
            <a:cxnSpLocks/>
          </p:cNvCxnSpPr>
          <p:nvPr/>
        </p:nvCxnSpPr>
        <p:spPr>
          <a:xfrm>
            <a:off x="2042224" y="5083717"/>
            <a:ext cx="880858" cy="12121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BF428B1-7DA0-DE65-D917-55EB3F60C7E2}"/>
              </a:ext>
            </a:extLst>
          </p:cNvPr>
          <p:cNvSpPr txBox="1"/>
          <p:nvPr/>
        </p:nvSpPr>
        <p:spPr>
          <a:xfrm>
            <a:off x="92769" y="3353682"/>
            <a:ext cx="2178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{0: 9900, 1: 100}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DBD63B-44DF-A730-962A-93F6A42241E1}"/>
              </a:ext>
            </a:extLst>
          </p:cNvPr>
          <p:cNvSpPr txBox="1"/>
          <p:nvPr/>
        </p:nvSpPr>
        <p:spPr>
          <a:xfrm>
            <a:off x="1197997" y="2563657"/>
            <a:ext cx="2178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{0: 100, 1: 100}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14922F-91A1-8564-4E16-128E3D22C430}"/>
              </a:ext>
            </a:extLst>
          </p:cNvPr>
          <p:cNvSpPr txBox="1"/>
          <p:nvPr/>
        </p:nvSpPr>
        <p:spPr>
          <a:xfrm>
            <a:off x="1080994" y="6054967"/>
            <a:ext cx="2178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NearMiss-3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FA1942-AE52-73B5-43F4-FED7C3C81A85}"/>
              </a:ext>
            </a:extLst>
          </p:cNvPr>
          <p:cNvSpPr txBox="1"/>
          <p:nvPr/>
        </p:nvSpPr>
        <p:spPr>
          <a:xfrm>
            <a:off x="1456166" y="4079026"/>
            <a:ext cx="2178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{0: 100, 1: 100}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C722BD-AE9A-EEB1-3671-4898340C0879}"/>
              </a:ext>
            </a:extLst>
          </p:cNvPr>
          <p:cNvSpPr txBox="1"/>
          <p:nvPr/>
        </p:nvSpPr>
        <p:spPr>
          <a:xfrm>
            <a:off x="1182025" y="2801016"/>
            <a:ext cx="2178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NearMiss-1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5CC1F3-4085-55D8-0D39-EF0245622829}"/>
              </a:ext>
            </a:extLst>
          </p:cNvPr>
          <p:cNvSpPr txBox="1"/>
          <p:nvPr/>
        </p:nvSpPr>
        <p:spPr>
          <a:xfrm>
            <a:off x="1004636" y="5818429"/>
            <a:ext cx="2178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{0: 100, 1: 100}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DA94F2-1077-2D68-6191-6B34A7BF301B}"/>
              </a:ext>
            </a:extLst>
          </p:cNvPr>
          <p:cNvSpPr txBox="1"/>
          <p:nvPr/>
        </p:nvSpPr>
        <p:spPr>
          <a:xfrm>
            <a:off x="1481539" y="4242393"/>
            <a:ext cx="2178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NearMiss-2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F03A8D-84E6-AE47-B304-13C07995A774}"/>
              </a:ext>
            </a:extLst>
          </p:cNvPr>
          <p:cNvSpPr txBox="1"/>
          <p:nvPr/>
        </p:nvSpPr>
        <p:spPr>
          <a:xfrm>
            <a:off x="5593793" y="2442970"/>
            <a:ext cx="307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Condensed Nearest Neighbor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541358-15BE-42FE-70AA-7B987D03C0B3}"/>
              </a:ext>
            </a:extLst>
          </p:cNvPr>
          <p:cNvSpPr txBox="1"/>
          <p:nvPr/>
        </p:nvSpPr>
        <p:spPr>
          <a:xfrm>
            <a:off x="5638817" y="2836324"/>
            <a:ext cx="61384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one those examples in the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along the decision boundary between the two classes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specifically, those majority examples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not be classified correctly by KNN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3B2EEB5-D3D0-DA7A-3519-6F5387B191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8377" y="4191678"/>
            <a:ext cx="2977588" cy="199851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1DBB963-289B-9C30-44EB-EC86D148782E}"/>
              </a:ext>
            </a:extLst>
          </p:cNvPr>
          <p:cNvSpPr txBox="1"/>
          <p:nvPr/>
        </p:nvSpPr>
        <p:spPr>
          <a:xfrm>
            <a:off x="7855141" y="3980783"/>
            <a:ext cx="2178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{0: 189, 1: 100}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799D25-7015-8785-661A-8085403189D5}"/>
              </a:ext>
            </a:extLst>
          </p:cNvPr>
          <p:cNvSpPr txBox="1"/>
          <p:nvPr/>
        </p:nvSpPr>
        <p:spPr>
          <a:xfrm>
            <a:off x="5747383" y="6131911"/>
            <a:ext cx="53636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have another methods you can see them in Jason Brownlee's book,….</a:t>
            </a:r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CB935CCA-CABE-5335-DEEA-9F074437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89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9" grpId="0"/>
      <p:bldP spid="20" grpId="0"/>
      <p:bldP spid="21" grpId="0"/>
      <p:bldP spid="23" grpId="0"/>
      <p:bldP spid="25" grpId="0"/>
      <p:bldP spid="26" grpId="0"/>
      <p:bldP spid="27" grpId="0"/>
      <p:bldP spid="29" grpId="0"/>
      <p:bldP spid="31" grpId="0"/>
      <p:bldP spid="33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1E9BB-E305-05F2-55D7-F314E4DE2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14" y="29035"/>
            <a:ext cx="11398771" cy="523216"/>
          </a:xfrm>
        </p:spPr>
        <p:txBody>
          <a:bodyPr>
            <a:noAutofit/>
          </a:bodyPr>
          <a:lstStyle/>
          <a:p>
            <a:pPr algn="ctr"/>
            <a:r>
              <a:rPr lang="en-US" sz="26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Synthetic Minority Oversampling Technique(SMOTE) for imbalance classification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2A6F0-6E35-0895-1409-A521736E24FA}"/>
              </a:ext>
            </a:extLst>
          </p:cNvPr>
          <p:cNvSpPr txBox="1"/>
          <p:nvPr/>
        </p:nvSpPr>
        <p:spPr>
          <a:xfrm>
            <a:off x="-2" y="422918"/>
            <a:ext cx="1184222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One approach to addressing imbalanced datasets is to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oversample the minority class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The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simplest approach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involves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duplicating examples 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 the minority class, although these examples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don’t add any new information to the model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so the new approach called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SMOTE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has been introduced. This is called in 2002 as a paper “</a:t>
            </a:r>
            <a:r>
              <a:rPr lang="en-US" sz="1600" b="0" i="0" dirty="0">
                <a:solidFill>
                  <a:srgbClr val="555555"/>
                </a:solidFill>
                <a:effectLst/>
                <a:latin typeface="Helvetica Neue"/>
              </a:rPr>
              <a:t>“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SMOTE: Synthetic Minority Over-sampling Technique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.”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1058E2-7218-1D06-0243-70DD3265077A}"/>
              </a:ext>
            </a:extLst>
          </p:cNvPr>
          <p:cNvSpPr txBox="1">
            <a:spLocks/>
          </p:cNvSpPr>
          <p:nvPr/>
        </p:nvSpPr>
        <p:spPr>
          <a:xfrm>
            <a:off x="-2" y="1166927"/>
            <a:ext cx="9114020" cy="523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does SMOTE perform in details?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BB30E-42E3-5C88-7FB9-869F6E067DA1}"/>
              </a:ext>
            </a:extLst>
          </p:cNvPr>
          <p:cNvSpPr txBox="1"/>
          <p:nvPr/>
        </p:nvSpPr>
        <p:spPr>
          <a:xfrm>
            <a:off x="0" y="1549771"/>
            <a:ext cx="11842229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first selects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minority class instance a at random and finds its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nearest (typically k=5) minority class neighbors.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synthetic instance is then created by choosing one of the k nearest neighbors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random and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connecting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form a line segment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feature space</a:t>
            </a:r>
            <a:r>
              <a:rPr lang="en-US" sz="1600" b="0" i="1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instances are generated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convex combination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two chosen instances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(b).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D6028E-460A-B3CC-F017-167D6BF54C28}"/>
              </a:ext>
            </a:extLst>
          </p:cNvPr>
          <p:cNvSpPr txBox="1">
            <a:spLocks/>
          </p:cNvSpPr>
          <p:nvPr/>
        </p:nvSpPr>
        <p:spPr>
          <a:xfrm>
            <a:off x="-2" y="2396279"/>
            <a:ext cx="9114020" cy="523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Notice : </a:t>
            </a:r>
            <a:r>
              <a:rPr 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combination of SMOTE and under-sampling performs better than plain under-sampling.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85ECFE-7A6C-1392-9DC7-5BAC643C0BB7}"/>
              </a:ext>
            </a:extLst>
          </p:cNvPr>
          <p:cNvSpPr txBox="1"/>
          <p:nvPr/>
        </p:nvSpPr>
        <p:spPr>
          <a:xfrm>
            <a:off x="0" y="3250011"/>
            <a:ext cx="12052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combination of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SMOTE and under-sampling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than plain under-sampling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are relatively close in feature space to existing examples from the minority class.</a:t>
            </a:r>
          </a:p>
          <a:p>
            <a:pPr marL="285750" indent="-285750" algn="just"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over-sampling works to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 the classifier to build larger decision regions that contain nearby minority class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points.</a:t>
            </a:r>
          </a:p>
          <a:p>
            <a:pPr marL="285750" indent="-285750" algn="just"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better performance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simply replicating upsampling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which does not add any useful information to training dataset. </a:t>
            </a:r>
          </a:p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0D081E4-E643-3027-E434-E4CAAE13A56C}"/>
              </a:ext>
            </a:extLst>
          </p:cNvPr>
          <p:cNvSpPr txBox="1">
            <a:spLocks/>
          </p:cNvSpPr>
          <p:nvPr/>
        </p:nvSpPr>
        <p:spPr>
          <a:xfrm>
            <a:off x="-2" y="2827086"/>
            <a:ext cx="9114020" cy="523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of SMOTE method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AB7CB14-2DB1-67E0-5106-D802C62EF8A7}"/>
              </a:ext>
            </a:extLst>
          </p:cNvPr>
          <p:cNvSpPr txBox="1">
            <a:spLocks/>
          </p:cNvSpPr>
          <p:nvPr/>
        </p:nvSpPr>
        <p:spPr>
          <a:xfrm>
            <a:off x="0" y="4298520"/>
            <a:ext cx="9114020" cy="523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Weaknesses of SMOTE method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C89A4-C439-E02B-9867-B434F91707DA}"/>
              </a:ext>
            </a:extLst>
          </p:cNvPr>
          <p:cNvSpPr txBox="1"/>
          <p:nvPr/>
        </p:nvSpPr>
        <p:spPr>
          <a:xfrm>
            <a:off x="0" y="4723454"/>
            <a:ext cx="120520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general downside of the approach is that synthetic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are created without considering the majority class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possibly resulting in ambiguous examples if there is a strong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overlap for the classes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3665A83-E313-67B8-BCA1-8DE05F0A0CC9}"/>
              </a:ext>
            </a:extLst>
          </p:cNvPr>
          <p:cNvSpPr txBox="1">
            <a:spLocks/>
          </p:cNvSpPr>
          <p:nvPr/>
        </p:nvSpPr>
        <p:spPr>
          <a:xfrm>
            <a:off x="-2" y="5381674"/>
            <a:ext cx="2083633" cy="523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result,…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4B925B-C8DB-3238-2513-2B3B478A50DB}"/>
              </a:ext>
            </a:extLst>
          </p:cNvPr>
          <p:cNvSpPr txBox="1"/>
          <p:nvPr/>
        </p:nvSpPr>
        <p:spPr>
          <a:xfrm>
            <a:off x="-2" y="5904890"/>
            <a:ext cx="120520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 have achieved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ROC AUC (0.830) using SMOTE than when using Decision Tree classifier solely with ROC AUC (0.759).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combination of (SMOTE and undersampling) has the greatest amount of ROC AUC standing at  (0.840).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values of k affects the values of ROC AUC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instance,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K=6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selected as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candidated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736EAE1-2AC3-0E42-E725-4E88A85F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44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9" grpId="0"/>
      <p:bldP spid="10" grpId="0"/>
      <p:bldP spid="11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C3169-A810-DD81-1044-390777CA2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31" y="-90270"/>
            <a:ext cx="7015397" cy="821194"/>
          </a:xfrm>
        </p:spPr>
        <p:txBody>
          <a:bodyPr>
            <a:normAutofit/>
          </a:bodyPr>
          <a:lstStyle/>
          <a:p>
            <a:pPr algn="ctr"/>
            <a:r>
              <a:rPr lang="en-US" sz="26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of different SMOTE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3A7E0-803D-86E5-6A9B-5CD9A5E31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51" y="1172921"/>
            <a:ext cx="2778166" cy="20951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572E6B-6F88-0F81-0700-FFCB7F0AB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448" y="1172921"/>
            <a:ext cx="2778166" cy="2095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570964-6A8F-D3D0-9695-DFFC29C9FD00}"/>
              </a:ext>
            </a:extLst>
          </p:cNvPr>
          <p:cNvSpPr txBox="1"/>
          <p:nvPr/>
        </p:nvSpPr>
        <p:spPr>
          <a:xfrm>
            <a:off x="1329185" y="730188"/>
            <a:ext cx="2178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{0: 9900, 1: 100}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BE511D-7A74-37BD-A789-E449C7DCD9CD}"/>
              </a:ext>
            </a:extLst>
          </p:cNvPr>
          <p:cNvSpPr txBox="1"/>
          <p:nvPr/>
        </p:nvSpPr>
        <p:spPr>
          <a:xfrm>
            <a:off x="5288724" y="744322"/>
            <a:ext cx="2113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{0: 9900, 1: 9900}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20B1AC-970C-07D2-53A7-AFDA27806144}"/>
              </a:ext>
            </a:extLst>
          </p:cNvPr>
          <p:cNvSpPr txBox="1"/>
          <p:nvPr/>
        </p:nvSpPr>
        <p:spPr>
          <a:xfrm>
            <a:off x="5156293" y="3406469"/>
            <a:ext cx="2647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ore examples in the minority class created along the lines between the original examples in the minority class.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AD854D-6FFC-B681-B98E-DBB994BB78FA}"/>
              </a:ext>
            </a:extLst>
          </p:cNvPr>
          <p:cNvSpPr txBox="1"/>
          <p:nvPr/>
        </p:nvSpPr>
        <p:spPr>
          <a:xfrm>
            <a:off x="1097367" y="3359133"/>
            <a:ext cx="26476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 with minority in class 1 and majority in class 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5B6AF0-B717-7366-9E85-1E5A3E11C382}"/>
              </a:ext>
            </a:extLst>
          </p:cNvPr>
          <p:cNvSpPr txBox="1"/>
          <p:nvPr/>
        </p:nvSpPr>
        <p:spPr>
          <a:xfrm>
            <a:off x="9398834" y="744322"/>
            <a:ext cx="2158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{0: 1980, 1: 990}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D4191B-0705-807E-847C-54ADE3F6016A}"/>
              </a:ext>
            </a:extLst>
          </p:cNvPr>
          <p:cNvSpPr txBox="1"/>
          <p:nvPr/>
        </p:nvSpPr>
        <p:spPr>
          <a:xfrm>
            <a:off x="8624341" y="3404074"/>
            <a:ext cx="3567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Oversample with 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random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undersample</a:t>
            </a:r>
            <a:endParaRPr 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for imbalanced dataset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E526006-D66D-5D38-0C20-996155B03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045" y="1172921"/>
            <a:ext cx="2778165" cy="20951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A950E7-8087-91A8-112D-7E16C8BDCB74}"/>
              </a:ext>
            </a:extLst>
          </p:cNvPr>
          <p:cNvSpPr txBox="1"/>
          <p:nvPr/>
        </p:nvSpPr>
        <p:spPr>
          <a:xfrm>
            <a:off x="579598" y="6436069"/>
            <a:ext cx="35526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borderline-SMOTE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for imbalanced dataset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1C4EB1-34FC-4739-6E26-01A0437A2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21" y="4578694"/>
            <a:ext cx="2867025" cy="18573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9A99525-4FBB-2FFA-3FFC-12909B68544C}"/>
              </a:ext>
            </a:extLst>
          </p:cNvPr>
          <p:cNvSpPr txBox="1"/>
          <p:nvPr/>
        </p:nvSpPr>
        <p:spPr>
          <a:xfrm>
            <a:off x="1394084" y="4117029"/>
            <a:ext cx="2113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{0: 9900, 1: 9900}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23B6CD-1C92-53F0-E20A-601AB148E080}"/>
              </a:ext>
            </a:extLst>
          </p:cNvPr>
          <p:cNvSpPr txBox="1"/>
          <p:nvPr/>
        </p:nvSpPr>
        <p:spPr>
          <a:xfrm>
            <a:off x="4956448" y="6396335"/>
            <a:ext cx="28670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borderline-SMOTE with SVM 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 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imbalanced dataset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98B4382-3448-44CF-98CC-15906C6FD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449" y="4567570"/>
            <a:ext cx="2778166" cy="1828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9E3357A-44F0-695C-6586-CE629093C081}"/>
              </a:ext>
            </a:extLst>
          </p:cNvPr>
          <p:cNvSpPr txBox="1"/>
          <p:nvPr/>
        </p:nvSpPr>
        <p:spPr>
          <a:xfrm>
            <a:off x="5288724" y="4135438"/>
            <a:ext cx="2113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{0: 9900, 1: 9900}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7898FD-7CBE-7A3C-D7E0-0EA19ECFD27C}"/>
              </a:ext>
            </a:extLst>
          </p:cNvPr>
          <p:cNvSpPr txBox="1"/>
          <p:nvPr/>
        </p:nvSpPr>
        <p:spPr>
          <a:xfrm>
            <a:off x="7247154" y="6408747"/>
            <a:ext cx="6175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Oversample and plot imbalanced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dataset with 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ADASYN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8278F9E-2C83-85E9-1634-452B2CE4C4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6044" y="4565439"/>
            <a:ext cx="2778166" cy="181927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6DA6BBB-5C39-67C1-2808-424D850B80F9}"/>
              </a:ext>
            </a:extLst>
          </p:cNvPr>
          <p:cNvSpPr txBox="1"/>
          <p:nvPr/>
        </p:nvSpPr>
        <p:spPr>
          <a:xfrm>
            <a:off x="6971675" y="4123388"/>
            <a:ext cx="6872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{0: 9900, 1: 9899}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CFF4EE0C-DDC6-5444-1894-7500A975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1" y="6365062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48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2" grpId="0"/>
      <p:bldP spid="14" grpId="0"/>
      <p:bldP spid="16" grpId="0"/>
      <p:bldP spid="19" grpId="0"/>
      <p:bldP spid="21" grpId="0"/>
      <p:bldP spid="23" grpId="0"/>
      <p:bldP spid="25" grpId="0"/>
      <p:bldP spid="27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4F08-5916-B9BE-BEDA-3174B6383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542520" cy="854438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of paper related to : “SMOTE: Synthetic Minority Over-sampling Technique”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EEC30-5C5F-0E24-0C35-78053670DC4D}"/>
              </a:ext>
            </a:extLst>
          </p:cNvPr>
          <p:cNvSpPr txBox="1">
            <a:spLocks/>
          </p:cNvSpPr>
          <p:nvPr/>
        </p:nvSpPr>
        <p:spPr>
          <a:xfrm>
            <a:off x="229850" y="719528"/>
            <a:ext cx="10163331" cy="1094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literature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under-sampling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majority class enables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classiﬁers to be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than over-sampling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minority class.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combination of the two method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lead to classiﬁers that outperform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built utilizing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undersampling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Oversampling of the minority class has been done by sampling with replacement from the original data.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C6894-0508-232D-FA6C-15B069A9A1F1}"/>
              </a:ext>
            </a:extLst>
          </p:cNvPr>
          <p:cNvSpPr txBox="1"/>
          <p:nvPr/>
        </p:nvSpPr>
        <p:spPr>
          <a:xfrm>
            <a:off x="262328" y="1813809"/>
            <a:ext cx="114374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of SMOTE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an over-sampling approach in which the minority class is over-sampled by creating “synthetic” examples rather than by over-sampling with replacement, which causes a random point along the line segment between two speciﬁc features.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23A3B-DC24-83EF-816B-3FB8ADCF9CA1}"/>
              </a:ext>
            </a:extLst>
          </p:cNvPr>
          <p:cNvSpPr txBox="1"/>
          <p:nvPr/>
        </p:nvSpPr>
        <p:spPr>
          <a:xfrm>
            <a:off x="294806" y="3044915"/>
            <a:ext cx="114374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of  SMOTE method in Decision Tree (or KNN,…) classification method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8329E5-9491-3993-6586-0F6A75B51D5F}"/>
              </a:ext>
            </a:extLst>
          </p:cNvPr>
          <p:cNvSpPr txBox="1"/>
          <p:nvPr/>
        </p:nvSpPr>
        <p:spPr>
          <a:xfrm>
            <a:off x="294806" y="3429000"/>
            <a:ext cx="11667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larger and less speciﬁc decision regions rather than smaller and more speciﬁc regions.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general regions are now learned for the minority class samples rather than those being subsumed by the majority class samples around them.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578429-6DA6-2588-35E0-E4CF0099D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715" y="4276021"/>
            <a:ext cx="3175261" cy="24377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44F52B-3A37-459F-35FC-00D294B5E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940" y="4342386"/>
            <a:ext cx="2847975" cy="2305050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08F84D67-C864-11B8-7F21-2D8DE79B3E7A}"/>
              </a:ext>
            </a:extLst>
          </p:cNvPr>
          <p:cNvSpPr/>
          <p:nvPr/>
        </p:nvSpPr>
        <p:spPr>
          <a:xfrm>
            <a:off x="833280" y="5235391"/>
            <a:ext cx="899410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32AF76B1-0A24-8DD5-ADFC-96B5298F6359}"/>
              </a:ext>
            </a:extLst>
          </p:cNvPr>
          <p:cNvSpPr/>
          <p:nvPr/>
        </p:nvSpPr>
        <p:spPr>
          <a:xfrm>
            <a:off x="6950599" y="5235390"/>
            <a:ext cx="899410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5DAEB8-5844-8C6A-6909-6E53E66D1E8B}"/>
              </a:ext>
            </a:extLst>
          </p:cNvPr>
          <p:cNvSpPr txBox="1"/>
          <p:nvPr/>
        </p:nvSpPr>
        <p:spPr>
          <a:xfrm>
            <a:off x="632240" y="4589060"/>
            <a:ext cx="1040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SMOTE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CD4B15-9DEA-C12D-1607-A383C2826068}"/>
              </a:ext>
            </a:extLst>
          </p:cNvPr>
          <p:cNvSpPr txBox="1"/>
          <p:nvPr/>
        </p:nvSpPr>
        <p:spPr>
          <a:xfrm>
            <a:off x="6804682" y="4608188"/>
            <a:ext cx="1040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SMOTE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194988B2-1F51-58D7-AA50-9FA6C60AC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5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55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15" grpId="0" animBg="1"/>
      <p:bldP spid="16" grpId="0" animBg="1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2256-BE61-05B5-AF30-E22D52CD2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of paper related to : “SMOTE: Synthetic Minority Over-sampling Technique”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accent1">
                  <a:lumMod val="75000"/>
                </a:schemeClr>
              </a:solidFill>
              <a:effectLst>
                <a:glow rad="495300">
                  <a:schemeClr val="accent1"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  <a:reflection endPos="0" dist="508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CF20EC-81EA-AA55-26CC-BA14CBB29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885" y="537509"/>
            <a:ext cx="3526905" cy="28914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C2EC82-9766-94F0-F742-B252996E4BB4}"/>
              </a:ext>
            </a:extLst>
          </p:cNvPr>
          <p:cNvSpPr txBox="1"/>
          <p:nvPr/>
        </p:nvSpPr>
        <p:spPr>
          <a:xfrm>
            <a:off x="0" y="837311"/>
            <a:ext cx="32228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Minority classification than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replicated over-sampling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C75F0-76DD-1F2C-DCC5-AADD072CBE83}"/>
              </a:ext>
            </a:extLst>
          </p:cNvPr>
          <p:cNvSpPr txBox="1"/>
          <p:nvPr/>
        </p:nvSpPr>
        <p:spPr>
          <a:xfrm>
            <a:off x="7261095" y="835173"/>
            <a:ext cx="441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combining under-sampling and over-sampling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initial bias of the learner towards the negative (majority) class is reversed in the favor of the positive (minority) class.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7076A41-8FF2-CAB9-1AC4-C0EA643F201C}"/>
              </a:ext>
            </a:extLst>
          </p:cNvPr>
          <p:cNvSpPr/>
          <p:nvPr/>
        </p:nvSpPr>
        <p:spPr>
          <a:xfrm>
            <a:off x="1402906" y="1760641"/>
            <a:ext cx="899410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A0FDE-FFB6-8457-1E74-82CA016B7CF5}"/>
              </a:ext>
            </a:extLst>
          </p:cNvPr>
          <p:cNvSpPr txBox="1"/>
          <p:nvPr/>
        </p:nvSpPr>
        <p:spPr>
          <a:xfrm>
            <a:off x="47116" y="3130247"/>
            <a:ext cx="27115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A42484-850F-718D-5CBD-745F7B981809}"/>
              </a:ext>
            </a:extLst>
          </p:cNvPr>
          <p:cNvSpPr txBox="1"/>
          <p:nvPr/>
        </p:nvSpPr>
        <p:spPr>
          <a:xfrm>
            <a:off x="98762" y="3530357"/>
            <a:ext cx="41956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Different algorithms with/without SMOTE not such as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Classifier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C4.5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10-fold cross-validation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nearest neighbors (k=5)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1BAB4-E324-AB34-2451-CBCC5BA804C5}"/>
              </a:ext>
            </a:extLst>
          </p:cNvPr>
          <p:cNvSpPr txBox="1"/>
          <p:nvPr/>
        </p:nvSpPr>
        <p:spPr>
          <a:xfrm>
            <a:off x="3222885" y="3530357"/>
            <a:ext cx="4195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different datasets such as 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944349-F4BD-4E85-95ED-464DF8B22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425" y="3899689"/>
            <a:ext cx="3656624" cy="22383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5F361A-C5A9-296E-2932-192BF9208CBC}"/>
              </a:ext>
            </a:extLst>
          </p:cNvPr>
          <p:cNvSpPr txBox="1"/>
          <p:nvPr/>
        </p:nvSpPr>
        <p:spPr>
          <a:xfrm>
            <a:off x="7595446" y="3130247"/>
            <a:ext cx="27115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 results: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226EFC-F111-BD9C-428E-406A74FFBA8C}"/>
              </a:ext>
            </a:extLst>
          </p:cNvPr>
          <p:cNvSpPr txBox="1"/>
          <p:nvPr/>
        </p:nvSpPr>
        <p:spPr>
          <a:xfrm>
            <a:off x="7595445" y="3530357"/>
            <a:ext cx="41956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the accuracy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classiﬁers for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minority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Larger decision regions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more specific towards other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SMOTE-classiﬁer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(C4.5,Ripper, Naïve Bayes) has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potentially optimal classiﬁers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any other approaches.</a:t>
            </a:r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8D06C16C-AEEE-F162-DD19-3A08A575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6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04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 animBg="1"/>
      <p:bldP spid="12" grpId="0"/>
      <p:bldP spid="13" grpId="0"/>
      <p:bldP spid="14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79BA77-A2D8-E0E0-7527-BB82103A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25" y="121534"/>
            <a:ext cx="11962150" cy="749508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of paper related to : “The harm of class imbalance corrections for risk prediction models:  illustration and simulation using logistic regression ”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A7398-474A-C02E-9D1B-AA4A61E2C6D6}"/>
              </a:ext>
            </a:extLst>
          </p:cNvPr>
          <p:cNvSpPr txBox="1"/>
          <p:nvPr/>
        </p:nvSpPr>
        <p:spPr>
          <a:xfrm>
            <a:off x="0" y="615878"/>
            <a:ext cx="1107773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 involving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ovarian cancer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terms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classes : “high risk” and “low risk” groups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examining the effect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imbalance dataset on ridge logistic regression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terms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discrimination (ROC AUC)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calibration (probability to belong to the minority class)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(Sensitivity and Specificity)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accompanying by imbalance correction methods such as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undersampling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oversampling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ovarian cancer diagnosis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of the patient (years)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diameter of the lesion (mm)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papillary structures ( values 0 to 4)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7832D-0DC0-5956-5F95-BA866407D96F}"/>
              </a:ext>
            </a:extLst>
          </p:cNvPr>
          <p:cNvSpPr txBox="1"/>
          <p:nvPr/>
        </p:nvSpPr>
        <p:spPr>
          <a:xfrm>
            <a:off x="0" y="3718523"/>
            <a:ext cx="119621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or challenges: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is not a good measure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high percentage is achieved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class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having close to 100 percent accuracy and the minority class having accuracies of 0-10 percent, 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Adjustment of the classification threshold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will be considered correctly (by using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calibration (strong overestimation of the probability to belong to the minority class).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fact, the imbalance correction methods distort model calibration by leading to probability estimates that are too high (or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overtreatment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Many individuals would exceed a given probability threshold and would be selected for treatment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improving in ROC AUC metric (discrimination)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 in Sensitivity and Specificity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(classification)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Noticing that moving probability threshold also has a similar results such as imbalance correction methods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imbalance correction method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guarantee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40477E-A1CA-640A-AA46-0B0C2C5AC02E}"/>
              </a:ext>
            </a:extLst>
          </p:cNvPr>
          <p:cNvSpPr txBox="1"/>
          <p:nvPr/>
        </p:nvSpPr>
        <p:spPr>
          <a:xfrm>
            <a:off x="5538865" y="2496359"/>
            <a:ext cx="35976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(80%) (518 class:1, 2177 class 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(20%) (507 class 0, 140 class 1)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A3BD06E-3DE4-023A-FA85-210235971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7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79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BE7A-5BE8-AEF5-CF20-2EA8F866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225" y="90618"/>
            <a:ext cx="2909395" cy="69217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>
                  <a:glow rad="4953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AutoShape 2" descr="Interviewing StatQuest's Founder and CEO, Joshua Starmer! | by Terence Shin  | Towards Data Science">
            <a:extLst>
              <a:ext uri="{FF2B5EF4-FFF2-40B4-BE49-F238E27FC236}">
                <a16:creationId xmlns:a16="http://schemas.microsoft.com/office/drawing/2014/main" id="{AD2F2FF3-A29F-399D-A42F-4C50F74E65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849902" cy="1849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E7FBAC-490D-6F77-ED32-4A784F429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813" y="1890004"/>
            <a:ext cx="1262087" cy="1641555"/>
          </a:xfrm>
          <a:prstGeom prst="rect">
            <a:avLst/>
          </a:prstGeom>
        </p:spPr>
      </p:pic>
      <p:sp>
        <p:nvSpPr>
          <p:cNvPr id="6" name="AutoShape 4" descr="Interviewing StatQuest's Founder and CEO, Joshua Starmer! | by Terence Shin  | Towards Data Science">
            <a:extLst>
              <a:ext uri="{FF2B5EF4-FFF2-40B4-BE49-F238E27FC236}">
                <a16:creationId xmlns:a16="http://schemas.microsoft.com/office/drawing/2014/main" id="{E476BD83-CF58-9678-A94C-15BEBD5159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 descr="Neural Networks with Joshua Starmer - YouTube">
            <a:extLst>
              <a:ext uri="{FF2B5EF4-FFF2-40B4-BE49-F238E27FC236}">
                <a16:creationId xmlns:a16="http://schemas.microsoft.com/office/drawing/2014/main" id="{A472205A-D9B8-9DF9-AB48-A565C8DCCB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8C6E39-FE25-8FBF-37AF-05EC1D1A0B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16" y="1952599"/>
            <a:ext cx="1481182" cy="14332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C2C206-8861-07FB-7721-5F217362C7A0}"/>
              </a:ext>
            </a:extLst>
          </p:cNvPr>
          <p:cNvSpPr txBox="1"/>
          <p:nvPr/>
        </p:nvSpPr>
        <p:spPr>
          <a:xfrm>
            <a:off x="5118102" y="2443716"/>
            <a:ext cx="7073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https://machinelearningmastery.com/category/imbalanced-classification/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E36CECA-B396-75BF-574F-D16BD20F23F2}"/>
              </a:ext>
            </a:extLst>
          </p:cNvPr>
          <p:cNvSpPr/>
          <p:nvPr/>
        </p:nvSpPr>
        <p:spPr>
          <a:xfrm rot="10800000">
            <a:off x="4413418" y="2426355"/>
            <a:ext cx="571332" cy="404053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A52830-6DB4-375F-19B6-6F128EC611BC}"/>
              </a:ext>
            </a:extLst>
          </p:cNvPr>
          <p:cNvSpPr txBox="1"/>
          <p:nvPr/>
        </p:nvSpPr>
        <p:spPr>
          <a:xfrm>
            <a:off x="278004" y="1520672"/>
            <a:ext cx="20701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Jason Brownlee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CF50B8-723A-49E4-8964-B7ADEEE7B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744" y="3733800"/>
            <a:ext cx="3639351" cy="2799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DF6177-8DD5-F248-45E1-1896BB151F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9442" y="3733801"/>
            <a:ext cx="3497572" cy="2909012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8F1B5674-78BA-FF00-421A-BA07F1EA57DC}"/>
              </a:ext>
            </a:extLst>
          </p:cNvPr>
          <p:cNvSpPr/>
          <p:nvPr/>
        </p:nvSpPr>
        <p:spPr>
          <a:xfrm>
            <a:off x="2253393" y="4962332"/>
            <a:ext cx="1020840" cy="404053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5698EB-8528-E33D-EB26-5530A619CA72}"/>
              </a:ext>
            </a:extLst>
          </p:cNvPr>
          <p:cNvSpPr txBox="1"/>
          <p:nvPr/>
        </p:nvSpPr>
        <p:spPr>
          <a:xfrm>
            <a:off x="335287" y="4902339"/>
            <a:ext cx="1642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Articles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3C1CC012-F9BF-7704-1E56-1082C679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771" y="6371341"/>
            <a:ext cx="503420" cy="365125"/>
          </a:xfrm>
        </p:spPr>
        <p:txBody>
          <a:bodyPr/>
          <a:lstStyle/>
          <a:p>
            <a:pPr algn="ctr"/>
            <a:fld id="{5D6E4418-A6C8-450B-B1F5-3C7A505E4AB8}" type="slidenum">
              <a:rPr lang="en-US"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8</a:t>
            </a:fld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38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  <p:bldP spid="21" grpId="0"/>
      <p:bldP spid="20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3F6FA-C48D-83C2-DA55-A07F878FACE3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  <a:solidFill>
            <a:schemeClr val="bg1"/>
          </a:solidFill>
          <a:effectLst>
            <a:glow>
              <a:schemeClr val="accent1"/>
            </a:glow>
            <a:softEdge rad="317500"/>
          </a:effectLst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consideration. </a:t>
            </a:r>
          </a:p>
        </p:txBody>
      </p:sp>
    </p:spTree>
    <p:extLst>
      <p:ext uri="{BB962C8B-B14F-4D97-AF65-F5344CB8AC3E}">
        <p14:creationId xmlns:p14="http://schemas.microsoft.com/office/powerpoint/2010/main" val="2592324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1352</Words>
  <Application>Microsoft Office PowerPoint</Application>
  <PresentationFormat>Widescreen</PresentationFormat>
  <Paragraphs>113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Helvetica Neue</vt:lpstr>
      <vt:lpstr>Times New Roman</vt:lpstr>
      <vt:lpstr>Office Theme</vt:lpstr>
      <vt:lpstr>PowerPoint Presentation</vt:lpstr>
      <vt:lpstr>Undersampling Algorithms for Imbalanced Classification</vt:lpstr>
      <vt:lpstr>Synthetic Minority Oversampling Technique(SMOTE) for imbalance classification</vt:lpstr>
      <vt:lpstr>Example of different SMOTE methods</vt:lpstr>
      <vt:lpstr>Summarization of paper related to : “SMOTE: Synthetic Minority Over-sampling Technique” </vt:lpstr>
      <vt:lpstr>Summarization of paper related to : “SMOTE: Synthetic Minority Over-sampling Technique” </vt:lpstr>
      <vt:lpstr>Summarization of paper related to : “The harm of class imbalance corrections for risk prediction models:  illustration and simulation using logistic regression ”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behnoud shafizadeh</dc:creator>
  <cp:lastModifiedBy>behnoud shafizadeh</cp:lastModifiedBy>
  <cp:revision>6</cp:revision>
  <dcterms:created xsi:type="dcterms:W3CDTF">2022-06-17T04:23:03Z</dcterms:created>
  <dcterms:modified xsi:type="dcterms:W3CDTF">2022-06-17T04:37:22Z</dcterms:modified>
</cp:coreProperties>
</file>